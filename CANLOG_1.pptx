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enc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5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5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enc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17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20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3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D82CB71-6C98-4E67-BCF4-36F0EC84F17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1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29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32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4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6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05C6192F-2865-4372-97B6-1CBB3543425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41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44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7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9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EC2B586-7FCC-41F0-84D6-1E87006946E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3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53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56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10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11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12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6F87DE0-89D4-4A86-902F-0B5266C8517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4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65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68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13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14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15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3BB50CA3-96B7-449B-A3AC-75F15D409BB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5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77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80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16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17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18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064195A7-77E2-4BC2-9DD8-EAE914052D4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6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89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92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9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20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21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2441377-68C3-486B-A812-FF8A5C407C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7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101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104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22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ftr" idx="23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sldNum" idx="24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88F6EDFD-80A2-4D07-9D15-44024AADF00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8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113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116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dt" idx="25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ftr" idx="26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sldNum" idx="27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7E512A71-45B5-4636-9150-25874A062FC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9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125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7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128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dt" idx="28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ftr" idx="29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sldNum" idx="30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52FDEFA-3C67-4608-98DA-D17EDC1C5D2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10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137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9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140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31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ftr" idx="3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sldNum" idx="33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90171DD3-5709-4133-BC0A-608C9DAB376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11_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219240" y="5233680"/>
            <a:ext cx="9652680" cy="158760"/>
          </a:xfrm>
          <a:custGeom>
            <a:avLst/>
            <a:gdLst/>
            <a:ahLst/>
            <a:rect l="0" t="0" r="r" b="b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ln cap="rnd" w="57600">
            <a:solidFill>
              <a:srgbClr val="956134"/>
            </a:solidFill>
            <a:round/>
          </a:ln>
        </p:spPr>
        <p:txBody>
          <a:bodyPr lIns="14040" tIns="14040" rIns="14040" bIns="140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" name=""/>
          <p:cNvGrpSpPr/>
          <p:nvPr/>
        </p:nvGrpSpPr>
        <p:grpSpPr>
          <a:xfrm>
            <a:off x="8829000" y="72720"/>
            <a:ext cx="731880" cy="731880"/>
            <a:chOff x="8829000" y="72720"/>
            <a:chExt cx="731880" cy="731880"/>
          </a:xfrm>
        </p:grpSpPr>
        <p:sp>
          <p:nvSpPr>
            <p:cNvPr id="149" name=""/>
            <p:cNvSpPr/>
            <p:nvPr/>
          </p:nvSpPr>
          <p:spPr>
            <a:xfrm>
              <a:off x="8890200" y="193320"/>
              <a:ext cx="549720" cy="550080"/>
            </a:xfrm>
            <a:custGeom>
              <a:avLst/>
              <a:gdLst/>
              <a:ahLst/>
              <a:rect l="0" t="0" r="r" b="b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9268200" y="72720"/>
              <a:ext cx="292680" cy="292680"/>
            </a:xfrm>
            <a:custGeom>
              <a:avLst/>
              <a:gdLst/>
              <a:ahLst/>
              <a:rect l="0" t="0" r="r" b="b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1" name=""/>
            <p:cNvGrpSpPr/>
            <p:nvPr/>
          </p:nvGrpSpPr>
          <p:grpSpPr>
            <a:xfrm>
              <a:off x="8829000" y="571320"/>
              <a:ext cx="232920" cy="233280"/>
              <a:chOff x="8829000" y="571320"/>
              <a:chExt cx="232920" cy="233280"/>
            </a:xfrm>
          </p:grpSpPr>
          <p:sp>
            <p:nvSpPr>
              <p:cNvPr id="152" name=""/>
              <p:cNvSpPr/>
              <p:nvPr/>
            </p:nvSpPr>
            <p:spPr>
              <a:xfrm>
                <a:off x="8829000" y="571320"/>
                <a:ext cx="232920" cy="233280"/>
              </a:xfrm>
              <a:custGeom>
                <a:avLst/>
                <a:gdLst/>
                <a:ahLst/>
                <a:rect l="0" t="0" r="r" b="b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8829000" y="688320"/>
                <a:ext cx="116280" cy="116280"/>
              </a:xfrm>
              <a:custGeom>
                <a:avLst/>
                <a:gdLst/>
                <a:ahLst/>
                <a:rect l="0" t="0" r="r" b="b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dt" idx="34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ftr" idx="35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sldNum" idx="36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34BC87D7-79BF-4D25-9A2B-395057A9FF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392760" y="2671920"/>
            <a:ext cx="7847640" cy="175320"/>
          </a:xfrm>
          <a:custGeom>
            <a:avLst/>
            <a:gdLst/>
            <a:ahLst/>
            <a:rect l="0" t="0" r="r" b="b"/>
            <a:pathLst>
              <a:path fill="none" w="21799" h="487">
                <a:moveTo>
                  <a:pt x="0" y="368"/>
                </a:moveTo>
                <a:cubicBezTo>
                  <a:pt x="459" y="415"/>
                  <a:pt x="1369" y="582"/>
                  <a:pt x="2022" y="415"/>
                </a:cubicBezTo>
                <a:cubicBezTo>
                  <a:pt x="2817" y="212"/>
                  <a:pt x="3861" y="155"/>
                  <a:pt x="4479" y="293"/>
                </a:cubicBezTo>
                <a:cubicBezTo>
                  <a:pt x="5010" y="412"/>
                  <a:pt x="6462" y="364"/>
                  <a:pt x="7219" y="237"/>
                </a:cubicBezTo>
                <a:cubicBezTo>
                  <a:pt x="8348" y="48"/>
                  <a:pt x="9290" y="115"/>
                  <a:pt x="9940" y="198"/>
                </a:cubicBezTo>
                <a:cubicBezTo>
                  <a:pt x="10666" y="290"/>
                  <a:pt x="12767" y="397"/>
                  <a:pt x="13116" y="434"/>
                </a:cubicBezTo>
                <a:cubicBezTo>
                  <a:pt x="13975" y="525"/>
                  <a:pt x="14754" y="267"/>
                  <a:pt x="15572" y="321"/>
                </a:cubicBezTo>
                <a:cubicBezTo>
                  <a:pt x="16090" y="355"/>
                  <a:pt x="16611" y="357"/>
                  <a:pt x="17131" y="349"/>
                </a:cubicBezTo>
                <a:cubicBezTo>
                  <a:pt x="17772" y="339"/>
                  <a:pt x="18415" y="212"/>
                  <a:pt x="19050" y="293"/>
                </a:cubicBezTo>
                <a:cubicBezTo>
                  <a:pt x="19541" y="355"/>
                  <a:pt x="20039" y="347"/>
                  <a:pt x="20533" y="330"/>
                </a:cubicBezTo>
                <a:cubicBezTo>
                  <a:pt x="20970" y="315"/>
                  <a:pt x="21377" y="110"/>
                  <a:pt x="21799" y="0"/>
                </a:cubicBezTo>
              </a:path>
            </a:pathLst>
          </a:custGeom>
          <a:ln cap="rnd" w="79200">
            <a:solidFill>
              <a:srgbClr val="956134"/>
            </a:solidFill>
            <a:round/>
          </a:ln>
        </p:spPr>
        <p:txBody>
          <a:bodyPr lIns="24840" tIns="24840" rIns="24840" bIns="2484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8290440" y="1442520"/>
            <a:ext cx="1190520" cy="1190880"/>
            <a:chOff x="8290440" y="1442520"/>
            <a:chExt cx="1190520" cy="1190880"/>
          </a:xfrm>
        </p:grpSpPr>
        <p:sp>
          <p:nvSpPr>
            <p:cNvPr id="4" name=""/>
            <p:cNvSpPr/>
            <p:nvPr/>
          </p:nvSpPr>
          <p:spPr>
            <a:xfrm>
              <a:off x="8390160" y="1639080"/>
              <a:ext cx="894240" cy="894600"/>
            </a:xfrm>
            <a:custGeom>
              <a:avLst/>
              <a:gdLst/>
              <a:ahLst/>
              <a:rect l="0" t="0" r="r" b="b"/>
              <a:pathLst>
                <a:path w="2484" h="2485">
                  <a:moveTo>
                    <a:pt x="1552" y="0"/>
                  </a:moveTo>
                  <a:lnTo>
                    <a:pt x="0" y="1553"/>
                  </a:lnTo>
                  <a:lnTo>
                    <a:pt x="932" y="2485"/>
                  </a:lnTo>
                  <a:lnTo>
                    <a:pt x="2484" y="932"/>
                  </a:lnTo>
                  <a:lnTo>
                    <a:pt x="2329" y="776"/>
                  </a:lnTo>
                  <a:lnTo>
                    <a:pt x="932" y="2174"/>
                  </a:lnTo>
                  <a:lnTo>
                    <a:pt x="776" y="2018"/>
                  </a:lnTo>
                  <a:lnTo>
                    <a:pt x="2173" y="621"/>
                  </a:lnTo>
                  <a:lnTo>
                    <a:pt x="1863" y="310"/>
                  </a:lnTo>
                  <a:lnTo>
                    <a:pt x="466" y="1708"/>
                  </a:lnTo>
                  <a:lnTo>
                    <a:pt x="311" y="1553"/>
                  </a:lnTo>
                  <a:lnTo>
                    <a:pt x="1708" y="156"/>
                  </a:lnTo>
                  <a:lnTo>
                    <a:pt x="1552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9005040" y="1442520"/>
              <a:ext cx="475920" cy="476280"/>
            </a:xfrm>
            <a:custGeom>
              <a:avLst/>
              <a:gdLst/>
              <a:ahLst/>
              <a:rect l="0" t="0" r="r" b="b"/>
              <a:pathLst>
                <a:path w="1322" h="1323">
                  <a:moveTo>
                    <a:pt x="0" y="390"/>
                  </a:moveTo>
                  <a:lnTo>
                    <a:pt x="336" y="55"/>
                  </a:lnTo>
                  <a:cubicBezTo>
                    <a:pt x="359" y="32"/>
                    <a:pt x="387" y="15"/>
                    <a:pt x="418" y="7"/>
                  </a:cubicBezTo>
                  <a:cubicBezTo>
                    <a:pt x="449" y="-2"/>
                    <a:pt x="482" y="-2"/>
                    <a:pt x="513" y="7"/>
                  </a:cubicBezTo>
                  <a:cubicBezTo>
                    <a:pt x="544" y="15"/>
                    <a:pt x="572" y="32"/>
                    <a:pt x="596" y="54"/>
                  </a:cubicBezTo>
                  <a:lnTo>
                    <a:pt x="1268" y="728"/>
                  </a:lnTo>
                  <a:cubicBezTo>
                    <a:pt x="1291" y="750"/>
                    <a:pt x="1308" y="779"/>
                    <a:pt x="1316" y="810"/>
                  </a:cubicBezTo>
                  <a:cubicBezTo>
                    <a:pt x="1323" y="841"/>
                    <a:pt x="1324" y="874"/>
                    <a:pt x="1316" y="904"/>
                  </a:cubicBezTo>
                  <a:cubicBezTo>
                    <a:pt x="1308" y="936"/>
                    <a:pt x="1291" y="964"/>
                    <a:pt x="1268" y="986"/>
                  </a:cubicBezTo>
                  <a:lnTo>
                    <a:pt x="931" y="1323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" name=""/>
            <p:cNvGrpSpPr/>
            <p:nvPr/>
          </p:nvGrpSpPr>
          <p:grpSpPr>
            <a:xfrm>
              <a:off x="8290440" y="2253960"/>
              <a:ext cx="379080" cy="379440"/>
              <a:chOff x="8290440" y="2253960"/>
              <a:chExt cx="379080" cy="379440"/>
            </a:xfrm>
          </p:grpSpPr>
          <p:sp>
            <p:nvSpPr>
              <p:cNvPr id="7" name=""/>
              <p:cNvSpPr/>
              <p:nvPr/>
            </p:nvSpPr>
            <p:spPr>
              <a:xfrm>
                <a:off x="8290440" y="2253960"/>
                <a:ext cx="379080" cy="379440"/>
              </a:xfrm>
              <a:custGeom>
                <a:avLst/>
                <a:gdLst/>
                <a:ahLst/>
                <a:rect l="0" t="0" r="r" b="b"/>
                <a:pathLst>
                  <a:path w="1053" h="1054">
                    <a:moveTo>
                      <a:pt x="1053" y="931"/>
                    </a:moveTo>
                    <a:lnTo>
                      <a:pt x="0" y="1054"/>
                    </a:lnTo>
                    <a:lnTo>
                      <a:pt x="121" y="0"/>
                    </a:lnTo>
                    <a:lnTo>
                      <a:pt x="1053" y="931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8290440" y="2444400"/>
                <a:ext cx="189000" cy="189000"/>
              </a:xfrm>
              <a:custGeom>
                <a:avLst/>
                <a:gdLst/>
                <a:ahLst/>
                <a:rect l="0" t="0" r="r" b="b"/>
                <a:pathLst>
                  <a:path w="525" h="525">
                    <a:moveTo>
                      <a:pt x="525" y="466"/>
                    </a:moveTo>
                    <a:lnTo>
                      <a:pt x="0" y="525"/>
                    </a:lnTo>
                    <a:lnTo>
                      <a:pt x="59" y="0"/>
                    </a:lnTo>
                    <a:lnTo>
                      <a:pt x="525" y="46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t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0000" y="1620000"/>
            <a:ext cx="756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ko-KR" sz="3200" b="0" u="none" strike="noStrike">
                <a:solidFill>
                  <a:srgbClr val="FF8000"/>
                </a:solidFill>
                <a:effectLst/>
                <a:highlight>
                  <a:srgbClr val="FFFFFF"/>
                </a:highlight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ko-KR" sz="3200" b="0" u="none" strike="noStrike">
                <a:solidFill>
                  <a:srgbClr val="FF8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제목 텍스트의 서식을 편집하려면 클릭하십시오</a:t>
            </a:r>
            <a:r>
              <a:rPr lang="en-US" sz="3200" b="0" u="none" strike="noStrike">
                <a:solidFill>
                  <a:srgbClr val="FF8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8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40000" y="3060000"/>
            <a:ext cx="9000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ko-KR" sz="2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ko-KR" sz="2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개요 텍스트의 서식을 편집하려면 클릭하십시오</a:t>
            </a:r>
            <a:endParaRPr lang="en-US" sz="24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2</a:t>
            </a:r>
            <a:r>
              <a:rPr lang="ko-KR" sz="21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번째 개요 수준</a:t>
            </a:r>
            <a:endParaRPr lang="en-US" sz="21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4</a:t>
            </a:r>
            <a:r>
              <a:rPr lang="ko-KR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5</a:t>
            </a:r>
            <a:r>
              <a:rPr lang="ko-KR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6</a:t>
            </a:r>
            <a:r>
              <a:rPr lang="ko-KR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7</a:t>
            </a:r>
            <a:r>
              <a:rPr lang="ko-KR" sz="15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번째 개요 수준</a:t>
            </a:r>
            <a:endParaRPr lang="en-US" sz="15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40000" y="1620000"/>
            <a:ext cx="756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FF8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CAN  Log </a:t>
            </a:r>
            <a:r>
              <a:rPr lang="ko-KR" sz="3200" b="0" u="none" strike="noStrike">
                <a:solidFill>
                  <a:srgbClr val="FF8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분석</a:t>
            </a:r>
            <a:endParaRPr lang="en-US" sz="3200" b="0" u="none" strike="noStrike">
              <a:solidFill>
                <a:srgbClr val="FF8000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1. 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CCU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(SecureAccess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시작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3420000" y="90000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 81.717170 R  - Tester Present (3E 80)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10  81  55  55  55  55  55   81.742260 R  - 10 80 (Diagnostic Session Control) 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기본세션 전환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 83.727450 R  - Tester Present (32 80)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02  29  08  55  55  55  55  55   84.814510 R  - 29 08 (Communication Control)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69  08  02  AA  AA  AA  AA   84.816640 R  - 69 08 02 (PR,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응딥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29 08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 성공 응답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14  54  29  01  00  04  4D  01   84.838660 R  - 14 54 ( ECU ISO-TP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멀티 프레임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송신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30  00  05  AA  AA  AA  AA  AA   84.838920 R  - Flow control frame (30 )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21  48  4D  43  03  43  41  01   84.844380 R  - ECU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데이터 송신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  ...Data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162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163" name=""/>
          <p:cNvSpPr txBox="1"/>
          <p:nvPr/>
        </p:nvSpPr>
        <p:spPr>
          <a:xfrm>
            <a:off x="360000" y="3060000"/>
            <a:ext cx="288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Secure Access (29h) - CCU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Request Download (34h)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990DF1-FD34-488A-892A-6CB381C960D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2. 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ECU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(SecureAccess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 계속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  ...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데이터 전송 계속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2E  A1  00  00  55  55  55  55   85.665110 R  - Memo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29  78  AA  AA  AA  AA   85.696600 R - 7F (NR), 29 (Communication Control), 78 (Respose Pending)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기다려줘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 85.736620 R - 3E 80 Tester Present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10  0F  69  01  11  00  08  23   85.776640 R - ISO-TP first frame 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길이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 - 15byte) , 69 (PR) 01(DiagnisticSessionControl) 11 00 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타이밍 정보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30  08  02  55  55  55  55  55   85.782110 R - Flow Control Frame 08 02 (Block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크기와 간격설정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21  89  22  5C  35  26  A2  59   85.782620 R - ECU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가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ISO-TP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프레임을 전송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22  00  00  AA  AA  AA  AA  AA   85.785600 R -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또다른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11  06  29  03  01  00  79  3F   85.986650 R - ECU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에 요청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29(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ID) 03(sub function) 10 00 79 3F 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 데이터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30  00  05  AA  AA  AA  AA  AA   85.986910 R - Flow Control Frame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전송해도 좋아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21  2B  3F  EE  4E  23  23  2A   85.992370 R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22  02  27  37  98  E7  E2  48   85.997570 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166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167" name=""/>
          <p:cNvSpPr txBox="1"/>
          <p:nvPr/>
        </p:nvSpPr>
        <p:spPr>
          <a:xfrm>
            <a:off x="360000" y="3060000"/>
            <a:ext cx="288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Routine Control (31h)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Request Download (34h)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1286FC-94BB-4D98-98B7-DF329C43FD6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3.1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7B0(Target)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(SecureAccess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승인과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Target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25  33  90  00  00  55  55  55   86.180610 R - Memo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03  7F  29  78  AA  AA  AA  AA   86.216620 R - 7F 29 78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 처리중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05  69  03  12  00  00  AA  AA   86.226610 R - PR 03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요청을 잘 처리함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 12 00 00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은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ECU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파라메터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10  83  55  55  55  55  55   86.330540 R - Dianostic Session Control, Programmin Session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(83 -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확인요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 87.745800 R - Tester Present (3E 80)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85  82  55  55  55  55  55   89.403650 R - 85(Control DTC Setting) 82 (sub f, DTC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저장 비활성화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 89.755990 R - TR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 91.765170 R - TR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03  28  83  03  55  55  55  55   92.476760 R - 28 (Communication Control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), 83 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특정 메시지 차단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/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허용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), 03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파라메터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 93.774340 R - TR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 95.549530 R - TR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 95.559860 R - TR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02  10  02  55  55  55  55  55   95.585540 R - 10 02 Diagnostic Session Control, Extended Diagnostci Session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03  7F  10  78  AA  AA  AA  AA   95.609520 R - 7F (NR) 10 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ID), 78 (Response Pending)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06  50  02  00  32  01  F4  AA   95.678300 R - 50 02 (PR, 02) Positive Response to Diagnostic Session 00 32 01 F4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02  3E  00  55  55  55  55  55   97.678680 R - TP (sub fn 0)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02  7E  00  AA  AA  AA  AA  AA   97.688320 R - 7E 00 (Positive Response to TP)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02  27  11  55  55  55  55  55   97.689260 R - 27 11 security Access, (Sub fn 0x11 : Seed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10  0A  67  11  2F  F9  7C  05   97.708290 R - 1st Frame (10 0A 10byte), 67 11 (PR to SecurityAccess) 2F F9 7C 05 Seed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30  08  02  55  55  55  55  55   97.708550 R - Flow Control Frame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21  5E  27  DD  70  AA  AA  AA   97.713330 R - 21 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프레임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.)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10  0A  27  12  2D  AB  2C  02   98.245810 R - 10 0A (First Frame) 27 12 (Security Access, sub fn 12)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테스터기가 앞서 받은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seed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를 기반으로한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Key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를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ECU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에 전송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30  00  00  AA  AA  AA  AA  AA   98.246320 R - Flow Control Frame, ECU - Tester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기 전송 허용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170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171" name=""/>
          <p:cNvSpPr txBox="1"/>
          <p:nvPr/>
        </p:nvSpPr>
        <p:spPr>
          <a:xfrm>
            <a:off x="360000" y="3060000"/>
            <a:ext cx="288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SecureAccess Control(28h)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Control DTC Setting (85h)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Communication Control (28h)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Diagnostic Session Control (10h 02h)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Security Access (27h)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C7CD275-6567-4082-BDB4-60009B4881E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3.2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7B0(Target)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(SecureAccess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승인과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Target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21  36  A6  59  CD  00  00  00   98.246580 R -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프레임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 key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값 나머지 전송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02  67  12  AA  AA  AA  AA  AA   98.268340 R - 67 12 (PR) ECU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가 인증함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 98.272180 R - 3E 80 (TP)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06  31  01  FF  00  F1  B1  55   98.297780 R - 31 01 (Routine Control, sub fn 0x01 (start routine),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특정 루틴 실행 요청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메모리 초기화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준비 작업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03  7F  31  78  AA  AA  AA  AA   98.308360 R - 7F 31 78 (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실행중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Pending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상태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100.281950 R - TP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03  7F  31  78  AA  AA  AA  AA  100.808370 R - Pending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102.291120 R - TP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03  7F  31  78  AA  AA  AA  AA  103.308380 R - Pending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000007DF  8  02  3E  80  55  55  55  55  55  104.301230 R - TP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03  7F  31  78  AA  AA  AA  AA  105.808390 R - Pending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07  71  01  FF  00  F1  B1  00  105.868380 R - 71 01 (Positive Response ) ECU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실행완료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10  0B  34  00  44  00  00  10  105.872990 R - 10 0B (First Frame), 34 (RequestDownload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), ECU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에 프로그래밍 시작 요청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30  00  00  AA  AA  AA  AA  AA  105.873410 R - Flow Control Frame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21  00  00  00  00  48  55  55  105.873670 R -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프레임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04  74  20  0F  FF  AA  AA  AA  105.888350 R - 74 20 (Positive Response)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다운로드 요청 수락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 파라미터 제공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10  4A  36  01  3B  49  0C  30  105.893550 R - 10 4A (First Frame) 36 (TransferData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데이터 블록 전송 시작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30  00  00  AA  AA  AA  AA  AA  105.894060 R - Flow Control Frame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21  00  00  00  40  00  33  37  105.894320 R -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22  31  31  30  2D  31  45  41  105.894580 R -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174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175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176" name=""/>
          <p:cNvSpPr txBox="1"/>
          <p:nvPr/>
        </p:nvSpPr>
        <p:spPr>
          <a:xfrm>
            <a:off x="360000" y="3060000"/>
            <a:ext cx="288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Routine Control (31h)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Request Download (34h)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33A23FD-44EE-45FC-96EF-2841538138D8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4.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7B0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 Target Reprogramming 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29  F9  B7  47  64  99  78  81  105.896200 R - Memo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2A  35  CA  69  80  0F  55  55  105.896370 R -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데이터 블록 마지막 부분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03  7F  36  78  AA  AA  AA  AA  105.938350 R - 7F 36 78 (36(TransferData)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Pending)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데이터 처리중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02  76  01  AA  AA  AA  AA  AA  106.128390 R - 76 01 (Positive Response) Block 01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을 정상적으로 수신 했음 표시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01  37  55  55  55  55  55  55  106.131970 R - 37 (RequestTransferExit)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데이터 전송 종료 요청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01  77  AA  AA  AA  AA  AA  AA  106.148360 R - 77 (Postive Response) ECU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 종료 승인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10  0B  34  00  44  80  08  40  106.152450 R - 10 0B (First Frame), 34 (RequestDownload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다운로드 요청 시작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30  00  00  AA  AA  AA  AA  AA  106.152880 R - Flow Control Frame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21  00  00  00  02  00  55  55  106.153140 R -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프레임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04  74  20  0F  FF  AA  AA  AA  106.168410 R - 74 20 (Postive Response)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다운로드 요청수락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 파라미터 제공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12  02  36  01  4D  2F  1D  1B  106.178140 R - 12 02 (Frist Frame) 36 (Transfer Data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01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블록번호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30  00  00  AA  AA  AA  AA  AA  106.178650 R - Flow Control Frame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21  AE  E1  95  99  47  16  89  106.178910 R -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프로그램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Data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22  E7  69  71  91  59  CB  3C  106.179160 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179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180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181" name=""/>
          <p:cNvSpPr txBox="1"/>
          <p:nvPr/>
        </p:nvSpPr>
        <p:spPr>
          <a:xfrm>
            <a:off x="360000" y="3060000"/>
            <a:ext cx="288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Request Downlod (34h)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TransferData (36h)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Request Transfer Exit (37h)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AC9E0C5-9DA7-4BE0-B07C-6B34E15424EF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5.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7B0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 Target Reprogramming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계속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28  17  7D  3A  A9  EE  04  74  106.330540 R - Memo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29  18  9E  CB  80  55  55  55  106.330800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Frame,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마지막 부분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106.331060 R - Tester Present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02  76  02  AA  AA  AA  AA  AA  106.348380 R - 76 02 (Positvie Response) 02 Block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번호 수신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12  02  36  03  AA  55  E6  A4  106.353410 R - 12 02 (First frame) 36 (TransferData) 03 Block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번호 새로운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Block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 시작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30  00  00  AA  AA  AA  AA  AA  106.353920 R - Flow Control Frame, multiframe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 허용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21  51  3C  FD  C4  22  4C  87  106.354180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22  39  6E  17  BD  B2  7C  B2  106.354440 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…  이후 계속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Block Download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27  23  8A  CC  FB  5D  DB  00  107.051180 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28  71  29  33  81  B1  11  8C  107.051350 R - Memo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29  86  76  53  79  55  55  55  107.051610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프레임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02  76  14  AA  AA  AA  AA  AA  107.068340 R - 76 (Positive Response) 14 Block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번호  정상전 수식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12  02  36  15  52  7C  6D  F6  107.073460 R - 12 02 (Frist Frame) 36 (Transfer Data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15 Block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번호 새로운 전송시작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000007B8  8  30  00  00  AA  AA  AA  AA  AA  107.073970 R - Flow Control 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21  4C  96  C3  9A  41  E6  23  107.074140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000007B0  8  22  19  28  D4  45  1B  F2  D0  107.074390 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184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185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186" name=""/>
          <p:cNvSpPr txBox="1"/>
          <p:nvPr/>
        </p:nvSpPr>
        <p:spPr>
          <a:xfrm>
            <a:off x="360000" y="3060000"/>
            <a:ext cx="288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Request Transfer Exit (37h)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Transfer Data (36h)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 …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이하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Download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8EC1FEE-8651-41D6-8C66-07D88C2B400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6.1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7B0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 Target Reprogramming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종료 과정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360000" y="3060000"/>
            <a:ext cx="288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 indent="0" algn="l">
              <a:spcBef>
                <a:spcPts val="1057"/>
              </a:spcBef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Request Transfer Exit (37h)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Routine Control (31h)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ECU Reset (11h)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" indent="0" algn="l">
              <a:spcBef>
                <a:spcPts val="1057"/>
              </a:spcBef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25  CC  97  1A  10  9F  50  DE  227.805870 R - Memo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26  74  55  55  55  55  55  55  227.806130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02  76  01  AA  AA  AA  AA  AA  227.819100 R - 76 (Positive Response) 01 Block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번호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1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정상적 수식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01  37  55  55  55  55  55  55  227.822770 R - 37 (RequestTransferExit)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 종료 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01  77  AA  AA  AA  AA  AA  AA  227.839070 R - 77 (Positive Response)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 종료 승인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04  31  01  02  00  55  55  55  227.842990 R - 31 01 (Routine Control sub fn 01 (start routine)) Routine id 200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03  7F  31  78  AA  AA  AA  AA  227.849050 R - 7F 31 78 (NR, Pending)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처리중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04  71  01  02  00  AA  AA  AA  228.609110 R - 71 01 (PR, Sub fn 01 (Start Routine)) 200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실행완료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04  31  01  FF  01  55  55  55  228.613040 R - 31 01 (Routine Control) Routine id FF 01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03  7F  31  78  AA  AA  AA  AA  228.649050 R - Pending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03  7F  31  78  AA  AA  AA  AA  228.709120 R - Pending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229.135360 R - Tester Present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04  71  01  FF  01  AA  AA  AA  230.629120 R - 71 01 (PR, Sub fn 01(Start Routine)) Routine Id FF 01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231.144540 R - Tester Present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3E  00  55  55  55  55  55  232.628660 R - Tester Present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02  7E  00  AA  AA  AA  AA  AA  232.639150 R - Tester Present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응답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11  01  55  55  55  55  55  232.639490 R - 11 01 (ECU Reset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Sub fn 01) ECU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리셋 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02  51  01  AA  AA  AA  AA  AA  232.649140 R - 51 01 (PR, Sub fn 01 ) ECU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리셋 요청 승인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190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191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192" name=""/>
          <p:cNvSpPr/>
          <p:nvPr/>
        </p:nvSpPr>
        <p:spPr>
          <a:xfrm>
            <a:off x="1800000" y="2340000"/>
            <a:ext cx="540000" cy="0"/>
          </a:xfrm>
          <a:prstGeom prst="line">
            <a:avLst/>
          </a:prstGeom>
          <a:ln w="25200">
            <a:solidFill>
              <a:srgbClr val="FF33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800000" y="2160000"/>
            <a:ext cx="540000" cy="0"/>
          </a:xfrm>
          <a:prstGeom prst="line">
            <a:avLst/>
          </a:prstGeom>
          <a:ln w="25200">
            <a:solidFill>
              <a:srgbClr val="FF33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800000" y="1980000"/>
            <a:ext cx="540000" cy="0"/>
          </a:xfrm>
          <a:prstGeom prst="line">
            <a:avLst/>
          </a:prstGeom>
          <a:ln w="25200">
            <a:solidFill>
              <a:srgbClr val="FF33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E3947DD-D812-46DB-9660-3751F928E7B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6.2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7B0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 Target Reprogramming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종료 과정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540000" y="3060000"/>
            <a:ext cx="270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057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233.153710 R - Tester Present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3E  00  55  55  55  55  55  234.648840 R - Tester Present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02  7E  00  AA  AA  AA  AA  AA  234.659670 R - 7E (Positive Response)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10  03  55  55  55  55  55  234.660100 R - 10 03 (Diagnostic Session Control) Extended Diagnostic Session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06  50  03  00  32  01  F4  AA  234.679470 R - 50 03 (Postive Response)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 승인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파라메터 제공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85  02  55  55  55  55  55  234.683740 R - 85 02 (Control DTC Setting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Sub fn 02) - *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비활성화 문서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Check*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02  C5  02  AA  AA  AA  AA  AA  234.689280 R - C5 02 (PR, Control DTC Setting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), DTC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비활성화 승인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03  28  03  03  55  55  55  55  234.693380 R - 28 03 (Communication Control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Sub fn 03) *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특정 통신 체널 제어 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*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02  68  03  AA  AA  AA  AA  AA  234.709250 R - 68 03 (PR)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통신 제어 요청 수락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234.712750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10  83  55  55  55  55  55  234.723080 R - 10 83 (Diagnostic Session Control) Programming Session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236.733020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03  28  80  03  55  55  55  55  237.796190 R - 28 80 (Communication Control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sub fn 80 03),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특정 통신 채널 제어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238.742190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240.751360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04  14  FF  FF  FF  55  55  55  240.869210 R - 14 (ClearDianosticInformation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FFFFFF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모든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DTC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삭제 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14  78  AA  AA  AA  AA  240.906590 R - 7F 14 78 (NR Pending) CCU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03  7F  14  78  AA  AA  AA  AA  240.909320 R - 7F 14 78 (NR Pending) Target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01  54  AA  AA  AA  AA  AA  AA  240.916660 R - 54 (PR) ClearDiagnosticInformation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DTC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삭제 완료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 CCU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01  54  AA  AA  AA  AA  AA  AA  240.919470 R - 54 (PR) ClearDiagnosticInformation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DTC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삭제 완료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 Target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198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199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3D2F258-D2C2-4148-810D-F4FF8CB136F2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6.3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7B0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 Target Reprogramming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종료 과정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540000" y="3060000"/>
            <a:ext cx="270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057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01  04  55  55  55  55  55  55  240.920410 R - 04 (ReadDTCInformation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242.761560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04  31  81  02  11  55  55  55  243.993690 R - 31 81 (RoutineControl, Sub fn 81(Stop Routine)) 02 11 Routine ID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종료 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244.770740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246.779910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04  31  81  02  11  55  55  55  247.062360 R - 31 81 (RoutineControl, Sub fn 81(Stop Routine)) 02 11 Routine ID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종료 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248.790110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04  31  81  02  11  55  55  55  250.131460 R - 31 81 (RoutineControl, Sub fn 81(Stop Routine)) 02 11 Routine ID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종료 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250.799280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252.808450 R - 10 81 (Diagnostic Session Control, Default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세션 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10  81  55  55  55  55  55  253.204740 R - 10 81 (Diagnostic Session Control, Default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세션 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254.818650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55  55  55  55  55  256.277590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10  81  55  55  55  55  55  291.569670 R - 10 81 (Diagnostic Session Control, Default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세션 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ECU(7B0)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에 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10  81  55  55  55  55  55  291.896750 R - 10 81 (Diagnostic Session Control, Default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세션 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ECU(7B0)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에 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03  22  F1  87  55  55  55  55  293.179820 R - 22 (ReadDataByIdentifier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F1 87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ECU SW/Data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버전 정보 읽기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10  0D  62  F1  87  34  36  31  293.199880 R - 62 F1 87 (PR) F1 87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데이터를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multiframe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반환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30  08  02  55  55  55  55  55  293.202520 R - Flow Control 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21  39  30  33  55  30  30  30  293.204660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10  81  55  55  55  55  55  294.549000 R - 10 81 (Diagnostic Session Control, Default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세션 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02  10  81  55  55  55  55  55  294.985990 R - 10 81 (Diagnostic Session Control, Default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세션 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03  22  F1  B1  55  55  55  55  296.242100 R - 22 (ReadDataByIdentifier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F1 B1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ECU SW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버전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/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빌드 정보 읽기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10  13  62  F1  B1  32  36  34  296.259930 R - 10 13 (First Frame) 62 F1 B1 (PR)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000007B0  8  30  08  02  55  55  55  55  55  296.262830 R - Flow Control Frame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21  31  2E  4C  47  2E  4C  58  296.264710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000007B8  8  22  33  2E  31  2E  36  30  AA  296.274690 R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203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204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66E4050-3002-4720-80F3-D12E0D83700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7.1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CCU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 CCU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연결 마무리 작업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540000" y="3060000"/>
            <a:ext cx="270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057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02  10  81  55  55  55  55  55  301.412610 R - 10 81 (Diagnostic Session Control, Default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세션 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02  10  03  55  55  55  55  55  302.663680 R - 10 03 (Diagnostic Session Control) Extended Diagnostic Session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06  50  03  00  32  01  F4  AA  302.676660 R - 50 03 (PR, Diagnostic Session Control)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확장 진단 세션 전환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OK,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03  22  F1  8F  55  55  55  55  303.763800 R - 22 (ReadDataByIdentifier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 F1 8F ECU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특정 데이터 읽기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303.796660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305.796700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307.796660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309.796700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311.796660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313.796700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315.796660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317.796700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319.796660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321.796700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323.796660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7F  22  78  AA  AA  AA  AA  325.796700 R - 7F 22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10  76  62  F1  8F  0C  52  31  326.766680 R - 10 76 (First Frame) 62 F1 8F (PR, ReadDataByIdentifier) DID F1 8F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30  08  02  55  55  55  55  55  326.769500 R - Flow Control 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21  35  36  20  4C  58  33  2F  326.770690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22  31  2F  30  0C  52  31  35  326.773680 R - R1356 LX3/1/0..." "GB18384-2020..." SW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버전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규격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인증정보 전송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23  35  20  4C  58  33  2F  31  326.776670 R - ...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208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209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0EA2A5D-F4EE-4D9C-9CFF-08B4FC81522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7.2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CCU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 CCU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연결 마무리 작업 계속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540000" y="3060000"/>
            <a:ext cx="270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057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30  08  02  55  55  55  55  55  326.819500 R - 30 (Flow Control Frame) MultiFrame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전송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00  00  00  00  00  329.433690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000007DF  8  02  3E  80  00  00  00  00  00  331.446360 R - TP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02  29  08  55  55  55  55  55  331.763290 R - 29 08 (Communication Control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Sub fn 08)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특정 통신채널 제어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03  69  08  02  AA  AA  AA  AA  331.766700 R - 69 08 (PR), 02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파라메터 반환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14  54  29  01  00  04  4D  01  331.854510 R - 14 54 (First Frame) 29 01 (Communication Control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000005D8  8  30  00  05  AA  AA  AA  AA  AA  331.854680 R - Flow Control 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21  48  4D  43  03  43  41  01  331.861000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000005D0  8  22  00  00  00  00  00  00  01  331.865950 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… Data Download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2E  A1  00  00  55  55  55  55  332.645980 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03  7F  29  78  AA  AA  AA  AA  332.686680 R - 7F 29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10  0F  69  01  11  00  08  B7  332.766720 R - 10 0F (First Frame) 69 01 (PR, Communication Control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응답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30  08  02  55  55  55  55  55  332.769030 R - Flow Control 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21  99  77  67  96  99  80  F9  332.769710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Frame. CCU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가 보냄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22  00  00  AA  AA  AA  AA  AA  332.772700 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11  06  29  03  01  00  45  A6  332.897630 R - 11 06 (First Frame) 29 03 (Communication Control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서비스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Sub fn 03)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특정 통신 채널 제어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30  00  05  AA  AA  AA  AA  AA  332.897880 R - Flow Control 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21  A0  92  44  F6  87  DB  9F  332.904030 R -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연속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Frame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22  E8  A2  EA  01  CC  31  76  332.909060 R -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213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214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DBAE1EE-27FD-4FAD-BDA7-E99D1D3C8174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8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Tester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와 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CCU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통신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( </a:t>
            </a:r>
            <a:r>
              <a:rPr lang="ko-KR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종료</a:t>
            </a: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540000" y="3060000"/>
            <a:ext cx="270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057"/>
              </a:spcBef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3420000" y="894240"/>
            <a:ext cx="6480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36000" indent="0" algn="l">
              <a:spcBef>
                <a:spcPts val="1057"/>
              </a:spcBef>
              <a:buNone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25  E8  04  00  00  55  55  55 333.084080 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03  7F  29  78  AA  AA  AA  AA 333.116680 R - 7F 29 78 (NR, Pending)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05  69  03  12  00  00  AA  AA 333.126750 R - 69 03 (PR, Communication Control )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정상적으로 처리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02  10  83  55  55  55  55  55 334.482520 R - 10 83 (DiagnisticSessionControl, Programming Session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요청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000005D0  8  04  31  01  12  A0  55  55  55 334.853550 R - 31 01 (RoutineControl Sub fn 01 (Start Routine)) Routine id 12 A0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실행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(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플리싱후 검증 이라함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CRC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체크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,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메모리 무결성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.)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 000005D8  8  04  71  01  12  A0  AA  AA  AA 334.876680 R - 71 01 (PR) RoutineControl </a:t>
            </a:r>
            <a:r>
              <a:rPr lang="ko-KR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실행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  <a:p>
            <a:pPr marL="36000" indent="0" algn="l">
              <a:spcBef>
                <a:spcPts val="1057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D2Coding"/>
                <a:ea typeface="D2Coding"/>
              </a:rPr>
              <a:t>Logging stopped.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2Coding"/>
            </a:endParaRPr>
          </a:p>
        </p:txBody>
      </p:sp>
      <p:pic>
        <p:nvPicPr>
          <p:cNvPr id="218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219" name=""/>
          <p:cNvPicPr/>
          <p:nvPr/>
        </p:nvPicPr>
        <p:blipFill>
          <a:blip r:embed="rId2"/>
          <a:stretch/>
        </p:blipFill>
        <p:spPr>
          <a:xfrm>
            <a:off x="360000" y="900360"/>
            <a:ext cx="2979360" cy="2047320"/>
          </a:xfrm>
          <a:prstGeom prst="rect">
            <a:avLst/>
          </a:prstGeom>
          <a:noFill/>
          <a:ln w="252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6FA5C21F-4ECE-4CE7-8731-05A34191F6A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2026-06-14T11:59:31Z</dcterms:created>
  <dc:creator/>
  <dc:description>This work is licensed under a Creative Commons 0 License.
It makes use of the works of kka_libo_design@ashisuto.co.jp.</dc:description>
  <dc:language>ko-KR</dc:language>
  <cp:lastModifiedBy/>
  <dcterms:modified xsi:type="dcterms:W3CDTF">2026-06-15T01:32:42Z</dcterms:modified>
  <cp:revision>11</cp:revision>
  <dc:subject/>
  <dc:title>Pencil</dc:title>
</cp:coreProperties>
</file>